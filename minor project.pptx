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87" r:id="rId3"/>
    <p:sldId id="295" r:id="rId5"/>
    <p:sldId id="296" r:id="rId6"/>
    <p:sldId id="319" r:id="rId7"/>
    <p:sldId id="297" r:id="rId8"/>
    <p:sldId id="318" r:id="rId9"/>
    <p:sldId id="298" r:id="rId10"/>
    <p:sldId id="299" r:id="rId11"/>
    <p:sldId id="300" r:id="rId12"/>
    <p:sldId id="301" r:id="rId13"/>
    <p:sldId id="302" r:id="rId14"/>
    <p:sldId id="303" r:id="rId15"/>
    <p:sldId id="306" r:id="rId16"/>
    <p:sldId id="304" r:id="rId17"/>
    <p:sldId id="305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5" r:id="rId26"/>
    <p:sldId id="317" r:id="rId27"/>
    <p:sldId id="294" r:id="rId28"/>
  </p:sldIdLst>
  <p:sldSz cx="18288000" cy="10287000"/>
  <p:notesSz cx="6858000" cy="9144000"/>
  <p:embeddedFontLst>
    <p:embeddedFont>
      <p:font typeface="Calibri" panose="020F0502020204030204" pitchFamily="34" charset="0"/>
      <p:regular r:id="rId33"/>
    </p:embeddedFont>
    <p:embeddedFont>
      <p:font typeface="Calibri Light" panose="020F0302020204030204" charset="0"/>
      <p:regular r:id="rId34"/>
      <p: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24" autoAdjust="0"/>
  </p:normalViewPr>
  <p:slideViewPr>
    <p:cSldViewPr snapToGrid="0" showGuides="1">
      <p:cViewPr varScale="1">
        <p:scale>
          <a:sx n="60" d="100"/>
          <a:sy n="60" d="100"/>
        </p:scale>
        <p:origin x="3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6B784-4FB6-471C-91EA-1AAA7047F172}" type="slidenum">
              <a:rPr lang="en-IN" smtClean="0"/>
            </a:fld>
            <a:endParaRPr lang="en-IN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dirty="0" err="1"/>
              <a:t>xvs</a:t>
            </a:r>
            <a:endParaRPr lang="en-IN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12033-2EDF-405D-A660-8698D41E1567}" type="datetime1">
              <a:rPr lang="en-US" smtClean="0"/>
            </a:fld>
            <a:endParaRPr lang="en-I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SAD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hf hd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F6C9-4098-4F57-82FD-FA7A90419CBB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1B4B-4772-4A5B-94BE-27B230A61506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DBEA-60CC-4E82-8FCD-C08C0FA58EF0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27C4-8E92-47C4-8B75-C489CBF5E5C2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5D09E-5709-4A29-A0A5-77A7413C6A08}" type="datetime4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D349-ED0E-48F8-A0B7-1A213615D7C0}" type="datetime4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F9647-CBAD-472B-84B3-9CF801CAE40F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6313DD99-6346-49EE-896A-812BE0BC6AC0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5D69-284E-4B3E-8D6B-194A5C20CDAB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4C624-3F70-4DF0-B793-F7ECC0A15E96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F21C-DD10-459D-BB01-F197A97FEFBA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2C1D521E-B6F1-4DC4-9DE1-CC400E5ADADF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594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26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58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890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973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85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49805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16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 descr="C:\Users\Sharad\Desktop\download veltech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26102" y="0"/>
            <a:ext cx="4295554" cy="1438275"/>
          </a:xfrm>
          <a:prstGeom prst="rect">
            <a:avLst/>
          </a:prstGeom>
          <a:noFill/>
        </p:spPr>
      </p:pic>
      <p:sp>
        <p:nvSpPr>
          <p:cNvPr id="22" name="Rectangle 21"/>
          <p:cNvSpPr/>
          <p:nvPr/>
        </p:nvSpPr>
        <p:spPr>
          <a:xfrm>
            <a:off x="748145" y="1193878"/>
            <a:ext cx="17415164" cy="4083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marR="5080" algn="ctr">
              <a:lnSpc>
                <a:spcPct val="150000"/>
              </a:lnSpc>
              <a:spcBef>
                <a:spcPts val="70"/>
              </a:spcBef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50000"/>
              </a:lnSpc>
              <a:spcBef>
                <a:spcPts val="70"/>
              </a:spcBef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 </a:t>
            </a:r>
            <a:endParaRPr lang="en-IN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50000"/>
              </a:lnSpc>
              <a:spcBef>
                <a:spcPts val="70"/>
              </a:spcBef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10214DS601/  MINOR PROJECT -1</a:t>
            </a:r>
            <a:endParaRPr lang="en-IN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50000"/>
              </a:lnSpc>
              <a:spcBef>
                <a:spcPts val="70"/>
              </a:spcBef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SEMESTER(2025-2026)  </a:t>
            </a:r>
            <a:endParaRPr lang="en-IN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50000"/>
              </a:lnSpc>
              <a:spcBef>
                <a:spcPts val="70"/>
              </a:spcBef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REVIEW-1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3"/>
          <p:cNvSpPr txBox="1"/>
          <p:nvPr/>
        </p:nvSpPr>
        <p:spPr>
          <a:xfrm>
            <a:off x="15740698" y="27597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1727" y="7704404"/>
            <a:ext cx="9144000" cy="10147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Muralikrishna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(VTU2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5758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)(23UEDC00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M.Siddharthreddy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(VTU26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)(23UEDC00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B.Jagadeeswar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(VTU2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5765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)(23UEDC00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IN" sz="2000" dirty="0"/>
              <a:t>)</a:t>
            </a:r>
            <a:endParaRPr lang="en-IN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538877" y="6560944"/>
            <a:ext cx="4344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258371" y="6583970"/>
            <a:ext cx="3168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884301" y="7199210"/>
            <a:ext cx="588415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/>
              <a:t>Dr.</a:t>
            </a:r>
            <a:r>
              <a:rPr lang="en-US" altLang="en-IN" sz="2000" dirty="0" err="1"/>
              <a:t>S.Karthika</a:t>
            </a:r>
            <a:endParaRPr lang="en-IN" sz="2000" dirty="0"/>
          </a:p>
          <a:p>
            <a:r>
              <a:rPr lang="en-IN" sz="2000" dirty="0"/>
              <a:t>Assistant Professor</a:t>
            </a:r>
            <a:endParaRPr lang="en-IN" sz="2000" dirty="0"/>
          </a:p>
          <a:p>
            <a:r>
              <a:rPr lang="en-US" altLang="en-IN" sz="2000" dirty="0" err="1"/>
              <a:t>M.E</a:t>
            </a:r>
            <a:r>
              <a:rPr lang="en-IN" sz="2000" dirty="0" err="1"/>
              <a:t>,Ph.D</a:t>
            </a:r>
            <a:endParaRPr lang="en-IN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A888-0629-4006-ACA5-A4B047741BD9}" type="datetime4">
              <a:rPr lang="en-US" smtClean="0"/>
            </a:fld>
            <a:endParaRPr lang="en-US" dirty="0"/>
          </a:p>
        </p:txBody>
      </p:sp>
      <p:pic>
        <p:nvPicPr>
          <p:cNvPr id="13" name="Picture 2" descr="C:\Users\Sharad\Desktop\Logo-Final-A vel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97269" y="293828"/>
            <a:ext cx="1160907" cy="122324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761386" y="4604891"/>
            <a:ext cx="15388682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>
                <a:sym typeface="+mn-ea"/>
              </a:rPr>
              <a:t>SONAR ROCK AND MINE DETECTION USING MACHINE LEARNING</a:t>
            </a: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-132372" y="6445471"/>
            <a:ext cx="3148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724B-9635-4DA3-8FD2-4E3190C9A96E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0490" y="1003866"/>
            <a:ext cx="1652154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THE PROJECT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METHODOLOGIES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D23-2755-4A8E-B0D3-93F64FC25479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14816" y="389205"/>
            <a:ext cx="15240474" cy="821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SONAR Basics: SONAR uses sound waves to "see" underwater. It sends out a sound pulse and listens for the echo.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the potential of Federated Learning (FL) in discovering ASD biomarkers from diverse medical data sources without compromising patient privacy.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federated learning framework for analyzing multimodal ASD data (e.g., neuroimaging, genetic, behavioral) across multiple institutions.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various hospitals and research institutions is used for model training, with each site keeping its data local.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algorithms are employed to train a shared model on decentralized datasets, enabling collaborative learning while maintaining privacy.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F9647-CBAD-472B-84B3-9CF801CAE40F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&amp; MACHINE LEARNING  / PROJECT TITLE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89229" y="2502007"/>
            <a:ext cx="15384745" cy="3176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biomarkers show promising consistency across different datasets, suggesting generalizability of the findings.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federated approach reduces data-sharing challenges while maintaining competitive performance compared to centralized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is a viable solution to overcome data privacy issues while enabling collaborative research on neurodevelopmental disorders.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studies can extend this framework to larger, more diverse datasets to enhance the robustness and accuracy of ASD biomarkers.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2AA0F-E1C7-4BA3-AA18-5C48C41165BF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06898" y="451550"/>
            <a:ext cx="16940775" cy="8672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4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4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reliable biomarkers that can help in detection of Autism.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privacy-preserving analysis using federated learning methods.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and reliability of Autism diagnosis through data-driven insights.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and identify potential biomarkers related to Autism using medical data.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federated learning techniques so that data from different sources can be used securely without sharing patient information.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lnSpc>
                <a:spcPct val="150000"/>
              </a:lnSpc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algn="l"/>
            <a:r>
              <a:rPr lang="en-IN" sz="1800" dirty="0"/>
              <a:t>D</a:t>
            </a: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A2419-6C56-42BD-8B6A-EF10932A3801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3955" y="698561"/>
            <a:ext cx="66353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THE PROJECT</a:t>
            </a:r>
            <a:endParaRPr lang="en-IN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4114800" y="8395855"/>
            <a:ext cx="7024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</a:t>
            </a:r>
            <a:endParaRPr lang="en-I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893618" y="1787236"/>
            <a:ext cx="4509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Sample Gantt Chart</a:t>
            </a:r>
            <a:endParaRPr lang="en-IN" sz="240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3056" y="3017912"/>
            <a:ext cx="11821888" cy="4251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EB03-A5DF-42EC-9C5C-A272BACFEA95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4731" y="710896"/>
            <a:ext cx="17739300" cy="6869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Spectrum Disorder (ASD) affects approximately 1 in 54 children, yet early diagnosis and effective treatments remain challenging due to its heterogeneous nature.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advancements in neuroimaging, genetics, and behavioral analysis, identifying reliable biomarkers for ASD remains elusive.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personalized interventions could dramatically improve outcomes for individuals with ASD, but data privacy and sharing restrictions present major roadblocks.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(FL) offers a cutting-edge solution by enabling the training of machine learning models without sharing patient data, while still leveraging multiple datasets for robust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explore the feasibility of using Federated Learning to discover ASD biomarkers across decentralized data sources, ensuring privacy while enhancing diagnostic accuracy.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 models often require centralized data, posing challenges for privacy, especially with sensitive medical and behavioral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475A2-E679-4C50-9079-059BEDB5FD63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53667" y="588941"/>
            <a:ext cx="16861497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5962" y="2326407"/>
          <a:ext cx="16227140" cy="6082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138"/>
                <a:gridCol w="5372100"/>
                <a:gridCol w="2247900"/>
                <a:gridCol w="4826002"/>
              </a:tblGrid>
              <a:tr h="1554948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Author’s Name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Paper name and</a:t>
                      </a:r>
                      <a:r>
                        <a:rPr lang="en-IN" sz="3200" baseline="0" dirty="0"/>
                        <a:t> publication details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Year </a:t>
                      </a:r>
                      <a:r>
                        <a:rPr lang="en-IN" sz="3200" baseline="0" dirty="0"/>
                        <a:t> of publication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Main content of the paper</a:t>
                      </a:r>
                      <a:endParaRPr lang="en-IN" sz="3200" dirty="0"/>
                    </a:p>
                  </a:txBody>
                  <a:tcPr/>
                </a:tc>
              </a:tr>
              <a:tr h="197557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Gupta, Bhuiyan M.R.I., Chowa Montaha S., Rahaman R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Autism Spectrum Disorder Classification with Lightweight Quantized CNNs and Federated Learning on ABIDE-I Dataset</a:t>
                      </a:r>
                      <a:b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2024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federated learning framework using quantized 1D-CNN on fMRI data. Best results achieved with CC200 brain atlas and specific filtering methods.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56174">
                <a:tc>
                  <a:txBody>
                    <a:bodyPr/>
                    <a:lstStyle/>
                    <a:p>
                      <a:pPr algn="just"/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FedHNN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Identifying autism spectrum disorder from multi-modal data with privacy-preserving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FedHNN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        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federated learning with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hypegraph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neural networks and multi modal inputs.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3BDA1-B032-4657-925D-AEBC058787E7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0100" y="2063173"/>
          <a:ext cx="16957964" cy="67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9491"/>
                <a:gridCol w="4675909"/>
                <a:gridCol w="2082800"/>
                <a:gridCol w="5959764"/>
              </a:tblGrid>
              <a:tr h="818396">
                <a:tc>
                  <a:txBody>
                    <a:bodyPr/>
                    <a:lstStyle/>
                    <a:p>
                      <a:pPr algn="just"/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Zhengning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 et al.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Autistic Spectrum Disorder Detection and Structural Biomarker Identification Using Self-Attention Model and Individual-Level Morphological Covariance Brain Networks</a:t>
                      </a:r>
                      <a:b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in: Frontiers in Neuroscience</a:t>
                      </a:r>
                      <a:endParaRPr 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br>
                        <a:rPr lang="en-IN" i="1" dirty="0"/>
                      </a:br>
                      <a:endParaRPr lang="en-IN" i="1" dirty="0"/>
                    </a:p>
                    <a:p>
                      <a:pPr algn="just"/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       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federated learning, but strong on biomarker discovery uses self-attention to find structural biomarkers: prefrontal cortex, temporal cortex, cerebellum, and pallidum. Good for interpretability in ASD.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18396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 Liu,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Junbin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Mao,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Hanhe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Lin, et 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modalMulti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-kernel Graph Learning for Autism Prediction and Biomarker Discovery (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accepted manuscript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     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learning across multiple modalities (e.g. fMRI, structural MRI) for ASD prediction; identifies discriminative brain regions; strong in discovering biomarkers. No FL in this work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019DB-4A0B-46BA-9BC6-9CE1EBD5BD16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45279" y="285296"/>
            <a:ext cx="7853625" cy="8237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METHODOLOGIES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51364" y="1549507"/>
            <a:ext cx="13496636" cy="3254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Logistic Regression is used here as a binary classifier to predict whether a sample belongs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0 or 1.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Predicts the probability of a sample belonging to a certain class using the logistic   function.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7086-8BA2-4972-A2D4-1F1CE68E49AD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01060" y="698561"/>
            <a:ext cx="1698817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Step:1 Collection of data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2783" y="3038450"/>
            <a:ext cx="8355317" cy="47381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C5A7-04FE-404A-88A2-55B5711692F3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21136" y="656998"/>
            <a:ext cx="1663168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Processing the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 screen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4809" y="3041488"/>
            <a:ext cx="9183382" cy="2324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9898-A717-4D81-B874-5A0E58E65350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9709" y="457200"/>
            <a:ext cx="1689561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                                                          Module 2-Federated algorithm</a:t>
            </a:r>
            <a:endParaRPr lang="en-IN" dirty="0"/>
          </a:p>
          <a:p>
            <a:endParaRPr lang="en-IN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73200" y="1257419"/>
            <a:ext cx="13919200" cy="777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is an innovative approach that enables multiple institutions, such as hospitals, research labs, or clinics, to collaboratively train machine learning models without sharing raw patient data.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centralizing data, each site trains a model locally on its own dataset and only shares the learned model parameters with a central server. The most widely used FL algorithm is Federated Averaging which combines these local models by averaging their weights to form a global model.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well when data across clients is similar real-world healthcare data is often non-IID. To address this,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a regularization term to improve model performance in such scenarios.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algorithms like Federated Matched Averaging are used with deep neural networks to align and merge corresponding neurons across models.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940D-A684-4BD1-A9D3-38BB8F246704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78852" y="573871"/>
            <a:ext cx="147815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Using algorithm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screenshot of a computer pro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8715" y="1323002"/>
            <a:ext cx="6772885" cy="62416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D7801-2D17-4813-882A-CBD1427739DC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29532" y="947943"/>
            <a:ext cx="10037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The output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-up of a 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508" y="1925089"/>
            <a:ext cx="12047133" cy="55836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225B-468C-4FEA-A9F0-1CA952FE2165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1890" y="282924"/>
            <a:ext cx="17020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600" dirty="0"/>
          </a:p>
        </p:txBody>
      </p:sp>
      <p:sp>
        <p:nvSpPr>
          <p:cNvPr id="6" name="Rectangle 5"/>
          <p:cNvSpPr/>
          <p:nvPr/>
        </p:nvSpPr>
        <p:spPr>
          <a:xfrm>
            <a:off x="1039091" y="1703338"/>
            <a:ext cx="9144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–Flow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E-R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C90B-EA86-44AE-BE0A-C51A85EF049D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8764" y="768927"/>
            <a:ext cx="165215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Architecture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2836" y="2452255"/>
            <a:ext cx="1691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endParaRPr lang="en-IN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diagram of a medical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126" y="1693345"/>
            <a:ext cx="6564874" cy="64871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C752-C554-4487-983F-1C3A2C22AD4E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4378" y="594652"/>
            <a:ext cx="17014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Data –Flow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diagram of a pro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3255" y="1291783"/>
            <a:ext cx="3686689" cy="67446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E90FF-3BB9-432F-BF14-F7F7FB5A0644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81254" y="407892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scientific research proces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4328" y="1537981"/>
            <a:ext cx="5344271" cy="43916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A15-4496-44DF-B3EE-09FC4EE316BF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82491" y="414727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497" y="1609232"/>
            <a:ext cx="4525006" cy="70685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3A281-1E5F-48CF-A771-307DE556DF87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49982" y="532445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4328" y="1911926"/>
            <a:ext cx="5045746" cy="71897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6CA6-BF15-425C-BFCC-66042594B9B3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05745" y="525472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grid of graph pap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8599" y="1528258"/>
            <a:ext cx="8430802" cy="72304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5CEE-7618-422C-A775-FD8F6084E257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Diagram of 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221" y="1066800"/>
            <a:ext cx="98298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3732-A836-4909-8174-8872B8251D36}" type="datetime4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63686" y="469961"/>
            <a:ext cx="95757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3291" y="2078182"/>
            <a:ext cx="17373600" cy="713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2800" dirty="0"/>
              <a:t>R. V. Rodrigues, “Screening for common mental disorders using the SRQ-20 in medical students from Porto Velho-RO, Brazil,” J. Adv. Med. </a:t>
            </a:r>
            <a:r>
              <a:rPr lang="en-IN" sz="2800" dirty="0" err="1"/>
              <a:t>Pharmaceut</a:t>
            </a:r>
            <a:r>
              <a:rPr lang="en-IN" sz="2800" dirty="0"/>
              <a:t>. Sci., vol. 40, no. 2, pp. 33–45, 2021.</a:t>
            </a:r>
            <a:endParaRPr lang="en-IN" sz="28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2800" dirty="0"/>
              <a:t> Z.-A. Huang, “Identifying autism spectrum disorder from resting-state fMRI using deep belief network,” IEEE Trans. Neural </a:t>
            </a:r>
            <a:r>
              <a:rPr lang="en-IN" sz="2800" dirty="0" err="1"/>
              <a:t>Netw</a:t>
            </a:r>
            <a:r>
              <a:rPr lang="en-IN" sz="2800" dirty="0"/>
              <a:t>. Learn. Syst., vol. 32, no. 7, pp. 2847–2861, Jul. 2021.</a:t>
            </a:r>
            <a:endParaRPr lang="en-IN" sz="28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/>
              <a:t>Z. Yang, “Functional informed fiber tracking using combination of diffusion and functional MRI,” IEEE Trans. Biomed. Eng., vol. 66, no. 3, pp. 794–801, Mar. 2019.</a:t>
            </a:r>
            <a:endParaRPr lang="en-US" sz="28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2800" dirty="0"/>
              <a:t>Z.-A. Huang, “Identification of autistic risk candidate genes and toxic chemicals via multilabel learning,” IEEE Trans. Neural </a:t>
            </a:r>
            <a:r>
              <a:rPr lang="en-IN" sz="2800" dirty="0" err="1"/>
              <a:t>Netw</a:t>
            </a:r>
            <a:r>
              <a:rPr lang="en-IN" sz="2800" dirty="0"/>
              <a:t>. Learn. Syst., vol. 32, no. 9, pp. 3971–3984, Sep. 2021.</a:t>
            </a:r>
            <a:endParaRPr lang="en-IN" sz="28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2800" dirty="0"/>
              <a:t> Y. Chen, X. Sun, and Y. Jin, “Communication-efficient federated deep learning with </a:t>
            </a:r>
            <a:r>
              <a:rPr lang="en-IN" sz="2800" dirty="0" err="1"/>
              <a:t>layerwise</a:t>
            </a:r>
            <a:r>
              <a:rPr lang="en-IN" sz="2800" dirty="0"/>
              <a:t> asynchronous model update and temporally weighted aggregation,” IEEE Trans. Neural </a:t>
            </a:r>
            <a:r>
              <a:rPr lang="en-IN" sz="2800" dirty="0" err="1"/>
              <a:t>Netw</a:t>
            </a:r>
            <a:r>
              <a:rPr lang="en-IN" sz="2800" dirty="0"/>
              <a:t>. Learn. Syst., vol. 31, no. 10, pp. 4229–4238, Oct. 2020.</a:t>
            </a:r>
            <a:endParaRPr lang="en-IN" sz="28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34547" y="3345873"/>
            <a:ext cx="459278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IN" sz="5400" b="1" spc="50" dirty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spc="5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 descr="C:\Users\Sharad\Desktop\download veltech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668264" y="6982691"/>
            <a:ext cx="4295554" cy="1438275"/>
          </a:xfrm>
          <a:prstGeom prst="rect">
            <a:avLst/>
          </a:prstGeom>
          <a:noFill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B66-66C3-4E49-9BB5-68DAF4A74099}" type="datetime4">
              <a:rPr lang="en-US" smtClean="0"/>
            </a:fld>
            <a:endParaRPr lang="en-US"/>
          </a:p>
        </p:txBody>
      </p:sp>
      <p:pic>
        <p:nvPicPr>
          <p:cNvPr id="12" name="Picture 2" descr="C:\Users\Sharad\Desktop\Logo-Final-A vel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49323" y="7193392"/>
            <a:ext cx="1160907" cy="1223246"/>
          </a:xfrm>
          <a:prstGeom prst="rect">
            <a:avLst/>
          </a:prstGeom>
          <a:noFill/>
        </p:spPr>
      </p:pic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34576" y="9689678"/>
            <a:ext cx="13002322" cy="547688"/>
          </a:xfrm>
        </p:spPr>
        <p:txBody>
          <a:bodyPr/>
          <a:lstStyle/>
          <a:p>
            <a:pPr marL="12065" marR="5080">
              <a:lnSpc>
                <a:spcPct val="150000"/>
              </a:lnSpc>
              <a:spcBef>
                <a:spcPts val="70"/>
              </a:spcBef>
            </a:pPr>
            <a:r>
              <a:rPr lang="en-IN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ENGINEERING(DATA SCIENCE)</a:t>
            </a:r>
            <a:endParaRPr lang="en-IN" sz="18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9223</Words>
  <Application>WPS Presentation</Application>
  <PresentationFormat>Custom</PresentationFormat>
  <Paragraphs>362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Arial</vt:lpstr>
      <vt:lpstr>Times New Roman</vt:lpstr>
      <vt:lpstr>Calibri</vt:lpstr>
      <vt:lpstr>Microsoft YaHei</vt:lpstr>
      <vt:lpstr>Arial Unicode MS</vt:lpstr>
      <vt:lpstr>Calibri Light</vt:lpstr>
      <vt:lpstr>Retrospect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Sharad</dc:creator>
  <cp:lastModifiedBy>nmura</cp:lastModifiedBy>
  <cp:revision>24</cp:revision>
  <dcterms:created xsi:type="dcterms:W3CDTF">2025-09-24T17:08:05Z</dcterms:created>
  <dcterms:modified xsi:type="dcterms:W3CDTF">2025-09-24T17:18:26Z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1CB2B215BED74978AE5F115BF28C5F89_13</vt:lpwstr>
  </property>
  <property fmtid="{D5CDD505-2E9C-101B-9397-08002B2CF9AE}" pid="3" name="KSOProductBuildVer">
    <vt:lpwstr>1033-12.2.0.22549</vt:lpwstr>
  </property>
</Properties>
</file>